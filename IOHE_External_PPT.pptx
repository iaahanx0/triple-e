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4"/>
  </p:notesMasterIdLst>
  <p:handoutMasterIdLst>
    <p:handoutMasterId r:id="rId15"/>
  </p:handoutMasterIdLst>
  <p:sldIdLst>
    <p:sldId id="256" r:id="rId5"/>
    <p:sldId id="257" r:id="rId6"/>
    <p:sldId id="269" r:id="rId7"/>
    <p:sldId id="270" r:id="rId8"/>
    <p:sldId id="271" r:id="rId9"/>
    <p:sldId id="272" r:id="rId10"/>
    <p:sldId id="274" r:id="rId11"/>
    <p:sldId id="273"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FD6143-3601-4F95-9684-05C0E538E8EF}" v="27" dt="2026-04-28T16:05:32.8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han Arora" userId="8c2ef1cebcec0767" providerId="LiveId" clId="{89E34A4C-5AD5-4F7D-A6B3-0D236E6FE5C7}"/>
    <pc:docChg chg="undo custSel addSld modSld">
      <pc:chgData name="Aahan Arora" userId="8c2ef1cebcec0767" providerId="LiveId" clId="{89E34A4C-5AD5-4F7D-A6B3-0D236E6FE5C7}" dt="2026-04-28T16:06:36.829" v="362" actId="20577"/>
      <pc:docMkLst>
        <pc:docMk/>
      </pc:docMkLst>
      <pc:sldChg chg="modSp mod">
        <pc:chgData name="Aahan Arora" userId="8c2ef1cebcec0767" providerId="LiveId" clId="{89E34A4C-5AD5-4F7D-A6B3-0D236E6FE5C7}" dt="2026-04-28T15:49:43.743" v="88" actId="2711"/>
        <pc:sldMkLst>
          <pc:docMk/>
          <pc:sldMk cId="0" sldId="256"/>
        </pc:sldMkLst>
        <pc:spChg chg="mod">
          <ac:chgData name="Aahan Arora" userId="8c2ef1cebcec0767" providerId="LiveId" clId="{89E34A4C-5AD5-4F7D-A6B3-0D236E6FE5C7}" dt="2026-04-28T15:49:43.743" v="88" actId="2711"/>
          <ac:spMkLst>
            <pc:docMk/>
            <pc:sldMk cId="0" sldId="256"/>
            <ac:spMk id="4" creationId="{00000000-0000-0000-0000-000000000000}"/>
          </ac:spMkLst>
        </pc:spChg>
      </pc:sldChg>
      <pc:sldChg chg="modSp mod">
        <pc:chgData name="Aahan Arora" userId="8c2ef1cebcec0767" providerId="LiveId" clId="{89E34A4C-5AD5-4F7D-A6B3-0D236E6FE5C7}" dt="2026-04-28T15:52:35.095" v="132" actId="404"/>
        <pc:sldMkLst>
          <pc:docMk/>
          <pc:sldMk cId="0" sldId="257"/>
        </pc:sldMkLst>
        <pc:spChg chg="mod">
          <ac:chgData name="Aahan Arora" userId="8c2ef1cebcec0767" providerId="LiveId" clId="{89E34A4C-5AD5-4F7D-A6B3-0D236E6FE5C7}" dt="2026-04-28T15:49:50.518" v="89" actId="2711"/>
          <ac:spMkLst>
            <pc:docMk/>
            <pc:sldMk cId="0" sldId="257"/>
            <ac:spMk id="5" creationId="{00000000-0000-0000-0000-000000000000}"/>
          </ac:spMkLst>
        </pc:spChg>
        <pc:spChg chg="mod">
          <ac:chgData name="Aahan Arora" userId="8c2ef1cebcec0767" providerId="LiveId" clId="{89E34A4C-5AD5-4F7D-A6B3-0D236E6FE5C7}" dt="2026-04-28T15:52:35.095" v="132" actId="404"/>
          <ac:spMkLst>
            <pc:docMk/>
            <pc:sldMk cId="0" sldId="257"/>
            <ac:spMk id="108" creationId="{00000000-0000-0000-0000-000000000000}"/>
          </ac:spMkLst>
        </pc:spChg>
      </pc:sldChg>
      <pc:sldChg chg="modSp new mod">
        <pc:chgData name="Aahan Arora" userId="8c2ef1cebcec0767" providerId="LiveId" clId="{89E34A4C-5AD5-4F7D-A6B3-0D236E6FE5C7}" dt="2026-04-28T15:51:54.527" v="125" actId="12"/>
        <pc:sldMkLst>
          <pc:docMk/>
          <pc:sldMk cId="617298731" sldId="269"/>
        </pc:sldMkLst>
        <pc:spChg chg="mod">
          <ac:chgData name="Aahan Arora" userId="8c2ef1cebcec0767" providerId="LiveId" clId="{89E34A4C-5AD5-4F7D-A6B3-0D236E6FE5C7}" dt="2026-04-28T15:49:23.459" v="86" actId="2711"/>
          <ac:spMkLst>
            <pc:docMk/>
            <pc:sldMk cId="617298731" sldId="269"/>
            <ac:spMk id="2" creationId="{C21386EA-6E51-641C-75DE-059143D718F7}"/>
          </ac:spMkLst>
        </pc:spChg>
        <pc:spChg chg="mod">
          <ac:chgData name="Aahan Arora" userId="8c2ef1cebcec0767" providerId="LiveId" clId="{89E34A4C-5AD5-4F7D-A6B3-0D236E6FE5C7}" dt="2026-04-28T15:51:54.527" v="125" actId="12"/>
          <ac:spMkLst>
            <pc:docMk/>
            <pc:sldMk cId="617298731" sldId="269"/>
            <ac:spMk id="3" creationId="{AE1B540E-C5F5-3A86-2383-25D06CEAFAEF}"/>
          </ac:spMkLst>
        </pc:spChg>
      </pc:sldChg>
      <pc:sldChg chg="modSp new mod">
        <pc:chgData name="Aahan Arora" userId="8c2ef1cebcec0767" providerId="LiveId" clId="{89E34A4C-5AD5-4F7D-A6B3-0D236E6FE5C7}" dt="2026-04-28T15:53:36.339" v="150" actId="20577"/>
        <pc:sldMkLst>
          <pc:docMk/>
          <pc:sldMk cId="1071423168" sldId="270"/>
        </pc:sldMkLst>
        <pc:spChg chg="mod">
          <ac:chgData name="Aahan Arora" userId="8c2ef1cebcec0767" providerId="LiveId" clId="{89E34A4C-5AD5-4F7D-A6B3-0D236E6FE5C7}" dt="2026-04-28T15:52:43.596" v="135" actId="122"/>
          <ac:spMkLst>
            <pc:docMk/>
            <pc:sldMk cId="1071423168" sldId="270"/>
            <ac:spMk id="2" creationId="{45D8C398-247F-B847-D6EE-7C3723F621C3}"/>
          </ac:spMkLst>
        </pc:spChg>
        <pc:spChg chg="mod">
          <ac:chgData name="Aahan Arora" userId="8c2ef1cebcec0767" providerId="LiveId" clId="{89E34A4C-5AD5-4F7D-A6B3-0D236E6FE5C7}" dt="2026-04-28T15:53:36.339" v="150" actId="20577"/>
          <ac:spMkLst>
            <pc:docMk/>
            <pc:sldMk cId="1071423168" sldId="270"/>
            <ac:spMk id="3" creationId="{A03005F6-01D9-45B6-91BC-B8D468165789}"/>
          </ac:spMkLst>
        </pc:spChg>
      </pc:sldChg>
      <pc:sldChg chg="modSp new mod">
        <pc:chgData name="Aahan Arora" userId="8c2ef1cebcec0767" providerId="LiveId" clId="{89E34A4C-5AD5-4F7D-A6B3-0D236E6FE5C7}" dt="2026-04-28T15:57:44.924" v="187" actId="12"/>
        <pc:sldMkLst>
          <pc:docMk/>
          <pc:sldMk cId="1508952164" sldId="271"/>
        </pc:sldMkLst>
        <pc:spChg chg="mod">
          <ac:chgData name="Aahan Arora" userId="8c2ef1cebcec0767" providerId="LiveId" clId="{89E34A4C-5AD5-4F7D-A6B3-0D236E6FE5C7}" dt="2026-04-28T15:55:59.872" v="175" actId="404"/>
          <ac:spMkLst>
            <pc:docMk/>
            <pc:sldMk cId="1508952164" sldId="271"/>
            <ac:spMk id="2" creationId="{6C163086-3E2C-D4AD-B279-490C4BEB336B}"/>
          </ac:spMkLst>
        </pc:spChg>
        <pc:spChg chg="mod">
          <ac:chgData name="Aahan Arora" userId="8c2ef1cebcec0767" providerId="LiveId" clId="{89E34A4C-5AD5-4F7D-A6B3-0D236E6FE5C7}" dt="2026-04-28T15:57:44.924" v="187" actId="12"/>
          <ac:spMkLst>
            <pc:docMk/>
            <pc:sldMk cId="1508952164" sldId="271"/>
            <ac:spMk id="3" creationId="{849DB811-BE6F-7526-BBEB-A30153BE1F4B}"/>
          </ac:spMkLst>
        </pc:spChg>
      </pc:sldChg>
      <pc:sldChg chg="modSp new mod">
        <pc:chgData name="Aahan Arora" userId="8c2ef1cebcec0767" providerId="LiveId" clId="{89E34A4C-5AD5-4F7D-A6B3-0D236E6FE5C7}" dt="2026-04-28T16:01:33.621" v="228" actId="122"/>
        <pc:sldMkLst>
          <pc:docMk/>
          <pc:sldMk cId="4157699204" sldId="272"/>
        </pc:sldMkLst>
        <pc:spChg chg="mod">
          <ac:chgData name="Aahan Arora" userId="8c2ef1cebcec0767" providerId="LiveId" clId="{89E34A4C-5AD5-4F7D-A6B3-0D236E6FE5C7}" dt="2026-04-28T16:01:33.621" v="228" actId="122"/>
          <ac:spMkLst>
            <pc:docMk/>
            <pc:sldMk cId="4157699204" sldId="272"/>
            <ac:spMk id="2" creationId="{982BF8B2-7B14-9AA5-588E-3D93C9D0F32F}"/>
          </ac:spMkLst>
        </pc:spChg>
        <pc:spChg chg="mod">
          <ac:chgData name="Aahan Arora" userId="8c2ef1cebcec0767" providerId="LiveId" clId="{89E34A4C-5AD5-4F7D-A6B3-0D236E6FE5C7}" dt="2026-04-28T16:00:55.970" v="204" actId="1076"/>
          <ac:spMkLst>
            <pc:docMk/>
            <pc:sldMk cId="4157699204" sldId="272"/>
            <ac:spMk id="3" creationId="{638D14D4-BC69-020E-0928-641240D83239}"/>
          </ac:spMkLst>
        </pc:spChg>
      </pc:sldChg>
      <pc:sldChg chg="modSp new mod">
        <pc:chgData name="Aahan Arora" userId="8c2ef1cebcec0767" providerId="LiveId" clId="{89E34A4C-5AD5-4F7D-A6B3-0D236E6FE5C7}" dt="2026-04-28T16:06:36.829" v="362" actId="20577"/>
        <pc:sldMkLst>
          <pc:docMk/>
          <pc:sldMk cId="3343542697" sldId="273"/>
        </pc:sldMkLst>
        <pc:spChg chg="mod">
          <ac:chgData name="Aahan Arora" userId="8c2ef1cebcec0767" providerId="LiveId" clId="{89E34A4C-5AD5-4F7D-A6B3-0D236E6FE5C7}" dt="2026-04-28T16:04:16.356" v="262" actId="2711"/>
          <ac:spMkLst>
            <pc:docMk/>
            <pc:sldMk cId="3343542697" sldId="273"/>
            <ac:spMk id="2" creationId="{2A0118F2-8EA8-FB40-D2ED-9155CB4BB6D5}"/>
          </ac:spMkLst>
        </pc:spChg>
        <pc:spChg chg="mod">
          <ac:chgData name="Aahan Arora" userId="8c2ef1cebcec0767" providerId="LiveId" clId="{89E34A4C-5AD5-4F7D-A6B3-0D236E6FE5C7}" dt="2026-04-28T16:06:36.829" v="362" actId="20577"/>
          <ac:spMkLst>
            <pc:docMk/>
            <pc:sldMk cId="3343542697" sldId="273"/>
            <ac:spMk id="3" creationId="{24F7C2D5-F1D1-06D1-FCEA-BF2A61BBD7B6}"/>
          </ac:spMkLst>
        </pc:spChg>
      </pc:sldChg>
      <pc:sldChg chg="modSp new mod">
        <pc:chgData name="Aahan Arora" userId="8c2ef1cebcec0767" providerId="LiveId" clId="{89E34A4C-5AD5-4F7D-A6B3-0D236E6FE5C7}" dt="2026-04-28T16:05:17.531" v="316" actId="20577"/>
        <pc:sldMkLst>
          <pc:docMk/>
          <pc:sldMk cId="2621080785" sldId="274"/>
        </pc:sldMkLst>
        <pc:spChg chg="mod">
          <ac:chgData name="Aahan Arora" userId="8c2ef1cebcec0767" providerId="LiveId" clId="{89E34A4C-5AD5-4F7D-A6B3-0D236E6FE5C7}" dt="2026-04-28T16:01:40.713" v="229" actId="2711"/>
          <ac:spMkLst>
            <pc:docMk/>
            <pc:sldMk cId="2621080785" sldId="274"/>
            <ac:spMk id="2" creationId="{3093CDC1-D96E-675E-5E96-107197781A1C}"/>
          </ac:spMkLst>
        </pc:spChg>
        <pc:spChg chg="mod">
          <ac:chgData name="Aahan Arora" userId="8c2ef1cebcec0767" providerId="LiveId" clId="{89E34A4C-5AD5-4F7D-A6B3-0D236E6FE5C7}" dt="2026-04-28T16:05:17.531" v="316" actId="20577"/>
          <ac:spMkLst>
            <pc:docMk/>
            <pc:sldMk cId="2621080785" sldId="274"/>
            <ac:spMk id="3" creationId="{E18D65F4-AF77-7744-49F0-70889FCAE8C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r>
              <a:rPr lang="en-US" sz="3600" b="1" dirty="0">
                <a:latin typeface="Times New Roman" panose="02020603050405020304" pitchFamily="18" charset="0"/>
                <a:cs typeface="Times New Roman" panose="02020603050405020304" pitchFamily="18" charset="0"/>
              </a:rPr>
              <a:t>Triple-E: Efficient, Emergent, and Explainable Debiasing for Ethical AI</a:t>
            </a:r>
            <a:endParaRPr lang="en-US" sz="3600" dirty="0">
              <a:latin typeface="Times New Roman" panose="02020603050405020304" pitchFamily="18" charset="0"/>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Aahan Arora</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2210991107</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Gurpreet Singh</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641"/>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4400" dirty="0">
                <a:latin typeface="Times New Roman" panose="02020603050405020304" pitchFamily="18" charset="0"/>
                <a:cs typeface="Times New Roman" panose="02020603050405020304" pitchFamily="18" charset="0"/>
              </a:rPr>
              <a:t>Introduction</a:t>
            </a:r>
            <a:endParaRPr lang="en-US" sz="4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Artificial Intelligence is widely used in important areas such as healthcare, banking, recruitment, education, and security systems. These systems help automate decisions and improve efficiency. However, if AI models are trained on biased data, they can produce unfair outcomes for certain groups of people.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example:</a:t>
            </a:r>
          </a:p>
          <a:p>
            <a:r>
              <a:rPr lang="en-US" sz="2000" dirty="0">
                <a:latin typeface="Times New Roman" panose="02020603050405020304" pitchFamily="18" charset="0"/>
                <a:cs typeface="Times New Roman" panose="02020603050405020304" pitchFamily="18" charset="0"/>
              </a:rPr>
              <a:t>Hiring systems may prefer one gender over another. </a:t>
            </a:r>
          </a:p>
          <a:p>
            <a:r>
              <a:rPr lang="en-US" sz="2000" dirty="0">
                <a:latin typeface="Times New Roman" panose="02020603050405020304" pitchFamily="18" charset="0"/>
                <a:cs typeface="Times New Roman" panose="02020603050405020304" pitchFamily="18" charset="0"/>
              </a:rPr>
              <a:t>Loan systems may favor certain communities. </a:t>
            </a:r>
          </a:p>
          <a:p>
            <a:r>
              <a:rPr lang="en-US" sz="2000" dirty="0">
                <a:latin typeface="Times New Roman" panose="02020603050405020304" pitchFamily="18" charset="0"/>
                <a:cs typeface="Times New Roman" panose="02020603050405020304" pitchFamily="18" charset="0"/>
              </a:rPr>
              <a:t>Face recognition systems may perform poorly on minority groups.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Therefore, it is important to develop AI Governance that are accurate, fair, and transparent.</a:t>
            </a: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386EA-6E51-641C-75DE-059143D718F7}"/>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AE1B540E-C5F5-3A86-2383-25D06CEAFAEF}"/>
              </a:ext>
            </a:extLst>
          </p:cNvPr>
          <p:cNvSpPr>
            <a:spLocks noGrp="1"/>
          </p:cNvSpPr>
          <p:nvPr>
            <p:ph type="subTitle"/>
          </p:nvPr>
        </p:nvSpPr>
        <p:spPr/>
        <p:txBody>
          <a:bodyPr/>
          <a:lstStyle/>
          <a:p>
            <a:pPr marL="0" indent="0">
              <a:buNone/>
            </a:pPr>
            <a:r>
              <a:rPr lang="en-US" sz="2000" dirty="0">
                <a:latin typeface="Times New Roman" panose="02020603050405020304" pitchFamily="18" charset="0"/>
                <a:cs typeface="Times New Roman" panose="02020603050405020304" pitchFamily="18" charset="0"/>
              </a:rPr>
              <a:t>Many existing fairness improvement techniques require sensitive labels such as:</a:t>
            </a:r>
          </a:p>
          <a:p>
            <a:pPr marL="0" indent="0">
              <a:buNone/>
            </a:pPr>
            <a:r>
              <a:rPr lang="en-US" sz="2000" dirty="0">
                <a:latin typeface="Times New Roman" panose="02020603050405020304" pitchFamily="18" charset="0"/>
                <a:cs typeface="Times New Roman" panose="02020603050405020304" pitchFamily="18" charset="0"/>
              </a:rPr>
              <a:t>Gender, Race, Age, Ethnicity </a:t>
            </a:r>
          </a:p>
          <a:p>
            <a:pPr marL="0" indent="0">
              <a:buNone/>
            </a:pPr>
            <a:r>
              <a:rPr lang="en-US" sz="2000" dirty="0">
                <a:latin typeface="Times New Roman" panose="02020603050405020304" pitchFamily="18" charset="0"/>
                <a:cs typeface="Times New Roman" panose="02020603050405020304" pitchFamily="18" charset="0"/>
              </a:rPr>
              <a:t>However, these labels may not be available because of privacy concerns or legal restrictions.</a:t>
            </a:r>
          </a:p>
          <a:p>
            <a:pPr marL="0" indent="0">
              <a:buNone/>
            </a:pPr>
            <a:r>
              <a:rPr lang="en-US" sz="2000" dirty="0">
                <a:latin typeface="Times New Roman" panose="02020603050405020304" pitchFamily="18" charset="0"/>
                <a:cs typeface="Times New Roman" panose="02020603050405020304" pitchFamily="18" charset="0"/>
              </a:rPr>
              <a:t>Other challenges include:</a:t>
            </a:r>
          </a:p>
          <a:p>
            <a:r>
              <a:rPr lang="en-US" sz="2000" dirty="0">
                <a:latin typeface="Times New Roman" panose="02020603050405020304" pitchFamily="18" charset="0"/>
                <a:cs typeface="Times New Roman" panose="02020603050405020304" pitchFamily="18" charset="0"/>
              </a:rPr>
              <a:t>Retraining deep learning models requires high computational power.</a:t>
            </a:r>
          </a:p>
          <a:p>
            <a:r>
              <a:rPr lang="en-US" sz="2000" dirty="0">
                <a:latin typeface="Times New Roman" panose="02020603050405020304" pitchFamily="18" charset="0"/>
                <a:cs typeface="Times New Roman" panose="02020603050405020304" pitchFamily="18" charset="0"/>
              </a:rPr>
              <a:t>Many AI systems work like black boxes.</a:t>
            </a:r>
          </a:p>
          <a:p>
            <a:r>
              <a:rPr lang="en-US" sz="2000" dirty="0">
                <a:latin typeface="Times New Roman" panose="02020603050405020304" pitchFamily="18" charset="0"/>
                <a:cs typeface="Times New Roman" panose="02020603050405020304" pitchFamily="18" charset="0"/>
              </a:rPr>
              <a:t>Users cannot understand why a prediction was made.</a:t>
            </a:r>
          </a:p>
          <a:p>
            <a:r>
              <a:rPr lang="en-US" sz="2000" dirty="0">
                <a:latin typeface="Times New Roman" panose="02020603050405020304" pitchFamily="18" charset="0"/>
                <a:cs typeface="Times New Roman" panose="02020603050405020304" pitchFamily="18" charset="0"/>
              </a:rPr>
              <a:t>Hence, there is a need for an efficient, explainable, and label-free debiasing system.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7298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C398-247F-B847-D6EE-7C3723F621C3}"/>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A03005F6-01D9-45B6-91BC-B8D468165789}"/>
              </a:ext>
            </a:extLst>
          </p:cNvPr>
          <p:cNvSpPr>
            <a:spLocks noGrp="1"/>
          </p:cNvSpPr>
          <p:nvPr>
            <p:ph type="subTitle"/>
          </p:nvPr>
        </p:nvSpPr>
        <p:spPr/>
        <p:txBody>
          <a:bodyPr/>
          <a:lstStyle/>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r>
              <a:rPr lang="en-US" sz="2000" dirty="0">
                <a:latin typeface="Times New Roman" panose="02020603050405020304" pitchFamily="18" charset="0"/>
                <a:cs typeface="Times New Roman" panose="02020603050405020304" pitchFamily="18" charset="0"/>
              </a:rPr>
              <a:t>Reduce bias in visual classification models.</a:t>
            </a:r>
          </a:p>
          <a:p>
            <a:r>
              <a:rPr lang="en-US" sz="2000" dirty="0">
                <a:latin typeface="Times New Roman" panose="02020603050405020304" pitchFamily="18" charset="0"/>
                <a:cs typeface="Times New Roman" panose="02020603050405020304" pitchFamily="18" charset="0"/>
              </a:rPr>
              <a:t>Improve fairness without using sensitive demographic labels.</a:t>
            </a:r>
          </a:p>
          <a:p>
            <a:r>
              <a:rPr lang="en-US" sz="2000" dirty="0">
                <a:latin typeface="Times New Roman" panose="02020603050405020304" pitchFamily="18" charset="0"/>
                <a:cs typeface="Times New Roman" panose="02020603050405020304" pitchFamily="18" charset="0"/>
              </a:rPr>
              <a:t>Maintain high prediction accuracy.</a:t>
            </a:r>
          </a:p>
          <a:p>
            <a:r>
              <a:rPr lang="en-US" sz="2000" dirty="0">
                <a:latin typeface="Times New Roman" panose="02020603050405020304" pitchFamily="18" charset="0"/>
                <a:cs typeface="Times New Roman" panose="02020603050405020304" pitchFamily="18" charset="0"/>
              </a:rPr>
              <a:t>Avoid expensive full model retraining.</a:t>
            </a:r>
          </a:p>
          <a:p>
            <a:r>
              <a:rPr lang="en-US" sz="2000" dirty="0">
                <a:latin typeface="Times New Roman" panose="02020603050405020304" pitchFamily="18" charset="0"/>
                <a:cs typeface="Times New Roman" panose="02020603050405020304" pitchFamily="18" charset="0"/>
              </a:rPr>
              <a:t>Provide explainable decisions.</a:t>
            </a:r>
          </a:p>
          <a:p>
            <a:r>
              <a:rPr lang="en-US" sz="2000" dirty="0">
                <a:latin typeface="Times New Roman" panose="02020603050405020304" pitchFamily="18" charset="0"/>
                <a:cs typeface="Times New Roman" panose="02020603050405020304" pitchFamily="18" charset="0"/>
              </a:rPr>
              <a:t>Build trust in AI systems.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423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3086-3E2C-D4AD-B279-490C4BEB336B}"/>
              </a:ext>
            </a:extLst>
          </p:cNvPr>
          <p:cNvSpPr>
            <a:spLocks noGrp="1"/>
          </p:cNvSpPr>
          <p:nvPr>
            <p:ph type="title"/>
          </p:nvPr>
        </p:nvSpPr>
        <p:spPr>
          <a:xfrm>
            <a:off x="0" y="88490"/>
            <a:ext cx="6440129" cy="698090"/>
          </a:xfrm>
        </p:spPr>
        <p:txBody>
          <a:bodyPr/>
          <a:lstStyle/>
          <a:p>
            <a:pPr algn="ctr"/>
            <a:r>
              <a:rPr lang="en-IN" sz="4000" dirty="0">
                <a:latin typeface="Times New Roman" panose="02020603050405020304" pitchFamily="18" charset="0"/>
                <a:cs typeface="Times New Roman" panose="02020603050405020304" pitchFamily="18" charset="0"/>
              </a:rPr>
              <a:t>Proposed Framework Triple-E</a:t>
            </a:r>
          </a:p>
        </p:txBody>
      </p:sp>
      <p:sp>
        <p:nvSpPr>
          <p:cNvPr id="3" name="Subtitle 2">
            <a:extLst>
              <a:ext uri="{FF2B5EF4-FFF2-40B4-BE49-F238E27FC236}">
                <a16:creationId xmlns:a16="http://schemas.microsoft.com/office/drawing/2014/main" id="{849DB811-BE6F-7526-BBEB-A30153BE1F4B}"/>
              </a:ext>
            </a:extLst>
          </p:cNvPr>
          <p:cNvSpPr>
            <a:spLocks noGrp="1"/>
          </p:cNvSpPr>
          <p:nvPr>
            <p:ph type="subTitle"/>
          </p:nvPr>
        </p:nvSpPr>
        <p:spPr/>
        <p:txBody>
          <a:bodyPr/>
          <a:lstStyle/>
          <a:p>
            <a:pPr marL="0" indent="0">
              <a:buNone/>
            </a:pPr>
            <a:r>
              <a:rPr lang="en-IN" sz="2000" dirty="0">
                <a:latin typeface="Times New Roman" panose="02020603050405020304" pitchFamily="18" charset="0"/>
                <a:cs typeface="Times New Roman" panose="02020603050405020304" pitchFamily="18" charset="0"/>
              </a:rPr>
              <a:t>Triple-E stands for:</a:t>
            </a:r>
          </a:p>
          <a:p>
            <a:r>
              <a:rPr lang="en-IN" sz="2000" b="1" dirty="0">
                <a:latin typeface="Times New Roman" panose="02020603050405020304" pitchFamily="18" charset="0"/>
                <a:cs typeface="Times New Roman" panose="02020603050405020304" pitchFamily="18" charset="0"/>
              </a:rPr>
              <a:t>Efficient</a:t>
            </a:r>
            <a:r>
              <a:rPr lang="en-IN" sz="2000" dirty="0">
                <a:latin typeface="Times New Roman" panose="02020603050405020304" pitchFamily="18" charset="0"/>
                <a:cs typeface="Times New Roman" panose="02020603050405020304" pitchFamily="18" charset="0"/>
              </a:rPr>
              <a:t> – Uses pruning instead of retraining </a:t>
            </a:r>
          </a:p>
          <a:p>
            <a:r>
              <a:rPr lang="en-IN" sz="2000" b="1" dirty="0">
                <a:latin typeface="Times New Roman" panose="02020603050405020304" pitchFamily="18" charset="0"/>
                <a:cs typeface="Times New Roman" panose="02020603050405020304" pitchFamily="18" charset="0"/>
              </a:rPr>
              <a:t>Emergent</a:t>
            </a:r>
            <a:r>
              <a:rPr lang="en-IN" sz="2000" dirty="0">
                <a:latin typeface="Times New Roman" panose="02020603050405020304" pitchFamily="18" charset="0"/>
                <a:cs typeface="Times New Roman" panose="02020603050405020304" pitchFamily="18" charset="0"/>
              </a:rPr>
              <a:t> – Detects fairness patterns automatically </a:t>
            </a:r>
          </a:p>
          <a:p>
            <a:r>
              <a:rPr lang="en-IN" sz="2000" b="1" dirty="0">
                <a:latin typeface="Times New Roman" panose="02020603050405020304" pitchFamily="18" charset="0"/>
                <a:cs typeface="Times New Roman" panose="02020603050405020304" pitchFamily="18" charset="0"/>
              </a:rPr>
              <a:t>Explainable</a:t>
            </a:r>
            <a:r>
              <a:rPr lang="en-IN" sz="2000" dirty="0">
                <a:latin typeface="Times New Roman" panose="02020603050405020304" pitchFamily="18" charset="0"/>
                <a:cs typeface="Times New Roman" panose="02020603050405020304" pitchFamily="18" charset="0"/>
              </a:rPr>
              <a:t> – Uses Sparse Autoencoder for auditing </a:t>
            </a:r>
          </a:p>
          <a:p>
            <a:pPr marL="0" indent="0">
              <a:buNone/>
            </a:pPr>
            <a:r>
              <a:rPr lang="en-IN" sz="2000" dirty="0">
                <a:latin typeface="Times New Roman" panose="02020603050405020304" pitchFamily="18" charset="0"/>
                <a:cs typeface="Times New Roman" panose="02020603050405020304" pitchFamily="18" charset="0"/>
              </a:rPr>
              <a:t>The framework has two phases:</a:t>
            </a:r>
          </a:p>
          <a:p>
            <a:r>
              <a:rPr lang="en-IN" sz="2000" dirty="0">
                <a:latin typeface="Times New Roman" panose="02020603050405020304" pitchFamily="18" charset="0"/>
                <a:cs typeface="Times New Roman" panose="02020603050405020304" pitchFamily="18" charset="0"/>
              </a:rPr>
              <a:t>Fair subnetwork discovery using pruning </a:t>
            </a:r>
          </a:p>
          <a:p>
            <a:r>
              <a:rPr lang="en-IN" sz="2000" dirty="0">
                <a:latin typeface="Times New Roman" panose="02020603050405020304" pitchFamily="18" charset="0"/>
                <a:cs typeface="Times New Roman" panose="02020603050405020304" pitchFamily="18" charset="0"/>
              </a:rPr>
              <a:t>Explainability check using Sparse Autoencoder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952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BF8B2-7B14-9AA5-588E-3D93C9D0F32F}"/>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638D14D4-BC69-020E-0928-641240D83239}"/>
              </a:ext>
            </a:extLst>
          </p:cNvPr>
          <p:cNvSpPr>
            <a:spLocks noGrp="1"/>
          </p:cNvSpPr>
          <p:nvPr>
            <p:ph type="subTitle"/>
          </p:nvPr>
        </p:nvSpPr>
        <p:spPr>
          <a:xfrm>
            <a:off x="186814" y="1968313"/>
            <a:ext cx="9075174" cy="3977280"/>
          </a:xfrm>
        </p:spPr>
        <p:txBody>
          <a:bodyPr/>
          <a:lstStyle/>
          <a:p>
            <a:pPr marL="0" indent="0">
              <a:buNone/>
            </a:pPr>
            <a:r>
              <a:rPr lang="en-IN" sz="2000" b="1" dirty="0">
                <a:latin typeface="Times New Roman" panose="02020603050405020304" pitchFamily="18" charset="0"/>
                <a:cs typeface="Times New Roman" panose="02020603050405020304" pitchFamily="18" charset="0"/>
              </a:rPr>
              <a:t>Phase 1: Fair Subnetwork Search</a:t>
            </a:r>
          </a:p>
          <a:p>
            <a:r>
              <a:rPr lang="en-IN" sz="2000" dirty="0">
                <a:latin typeface="Times New Roman" panose="02020603050405020304" pitchFamily="18" charset="0"/>
                <a:cs typeface="Times New Roman" panose="02020603050405020304" pitchFamily="18" charset="0"/>
              </a:rPr>
              <a:t>Start with pre-trained ResNet-50 </a:t>
            </a:r>
          </a:p>
          <a:p>
            <a:r>
              <a:rPr lang="en-IN" sz="2000" dirty="0">
                <a:latin typeface="Times New Roman" panose="02020603050405020304" pitchFamily="18" charset="0"/>
                <a:cs typeface="Times New Roman" panose="02020603050405020304" pitchFamily="18" charset="0"/>
              </a:rPr>
              <a:t>Remove unimportant weights step by step </a:t>
            </a:r>
          </a:p>
          <a:p>
            <a:r>
              <a:rPr lang="en-IN" sz="2000" dirty="0">
                <a:latin typeface="Times New Roman" panose="02020603050405020304" pitchFamily="18" charset="0"/>
                <a:cs typeface="Times New Roman" panose="02020603050405020304" pitchFamily="18" charset="0"/>
              </a:rPr>
              <a:t>Compare easy and difficult samples </a:t>
            </a:r>
          </a:p>
          <a:p>
            <a:r>
              <a:rPr lang="en-IN" sz="2000" dirty="0">
                <a:latin typeface="Times New Roman" panose="02020603050405020304" pitchFamily="18" charset="0"/>
                <a:cs typeface="Times New Roman" panose="02020603050405020304" pitchFamily="18" charset="0"/>
              </a:rPr>
              <a:t>Minimize fairness gap </a:t>
            </a:r>
          </a:p>
          <a:p>
            <a:r>
              <a:rPr lang="en-IN" sz="2000" dirty="0">
                <a:latin typeface="Times New Roman" panose="02020603050405020304" pitchFamily="18" charset="0"/>
                <a:cs typeface="Times New Roman" panose="02020603050405020304" pitchFamily="18" charset="0"/>
              </a:rPr>
              <a:t>Select best fair subnetwork </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Phase 2: Explainable Audit</a:t>
            </a:r>
          </a:p>
          <a:p>
            <a:r>
              <a:rPr lang="en-IN" sz="2000" dirty="0">
                <a:latin typeface="Times New Roman" panose="02020603050405020304" pitchFamily="18" charset="0"/>
                <a:cs typeface="Times New Roman" panose="02020603050405020304" pitchFamily="18" charset="0"/>
              </a:rPr>
              <a:t>Extract hidden activations </a:t>
            </a:r>
          </a:p>
          <a:p>
            <a:r>
              <a:rPr lang="en-IN" sz="2000" dirty="0">
                <a:latin typeface="Times New Roman" panose="02020603050405020304" pitchFamily="18" charset="0"/>
                <a:cs typeface="Times New Roman" panose="02020603050405020304" pitchFamily="18" charset="0"/>
              </a:rPr>
              <a:t>Train Sparse Autoencoder </a:t>
            </a:r>
          </a:p>
          <a:p>
            <a:r>
              <a:rPr lang="en-IN" sz="2000" dirty="0">
                <a:latin typeface="Times New Roman" panose="02020603050405020304" pitchFamily="18" charset="0"/>
                <a:cs typeface="Times New Roman" panose="02020603050405020304" pitchFamily="18" charset="0"/>
              </a:rPr>
              <a:t>Detect sensitive features </a:t>
            </a:r>
          </a:p>
          <a:p>
            <a:r>
              <a:rPr lang="en-IN" sz="2000" dirty="0">
                <a:latin typeface="Times New Roman" panose="02020603050405020304" pitchFamily="18" charset="0"/>
                <a:cs typeface="Times New Roman" panose="02020603050405020304" pitchFamily="18" charset="0"/>
              </a:rPr>
              <a:t>Check if they affect output</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7699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3CDC1-D96E-675E-5E96-107197781A1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Tools Used</a:t>
            </a:r>
          </a:p>
        </p:txBody>
      </p:sp>
      <p:sp>
        <p:nvSpPr>
          <p:cNvPr id="3" name="Subtitle 2">
            <a:extLst>
              <a:ext uri="{FF2B5EF4-FFF2-40B4-BE49-F238E27FC236}">
                <a16:creationId xmlns:a16="http://schemas.microsoft.com/office/drawing/2014/main" id="{E18D65F4-AF77-7744-49F0-70889FCAE8C4}"/>
              </a:ext>
            </a:extLst>
          </p:cNvPr>
          <p:cNvSpPr>
            <a:spLocks noGrp="1"/>
          </p:cNvSpPr>
          <p:nvPr>
            <p:ph type="subTitle"/>
          </p:nvPr>
        </p:nvSpPr>
        <p:spPr>
          <a:xfrm>
            <a:off x="752168" y="1986114"/>
            <a:ext cx="8686800" cy="4306529"/>
          </a:xfrm>
        </p:spPr>
        <p:txBody>
          <a:bodyPr/>
          <a:lstStyle/>
          <a:p>
            <a:pPr marL="0" indent="0">
              <a:buNone/>
            </a:pPr>
            <a:r>
              <a:rPr lang="en-IN" sz="2000" b="1" dirty="0">
                <a:latin typeface="Times New Roman" panose="02020603050405020304" pitchFamily="18" charset="0"/>
                <a:cs typeface="Times New Roman" panose="02020603050405020304" pitchFamily="18" charset="0"/>
              </a:rPr>
              <a:t>Tools</a:t>
            </a:r>
          </a:p>
          <a:p>
            <a:pPr marL="0" indent="0">
              <a:buNone/>
            </a:pPr>
            <a:r>
              <a:rPr lang="en-IN" sz="2000" dirty="0">
                <a:latin typeface="Times New Roman" panose="02020603050405020304" pitchFamily="18" charset="0"/>
                <a:cs typeface="Times New Roman" panose="02020603050405020304" pitchFamily="18" charset="0"/>
              </a:rPr>
              <a:t>Python,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NumPy, Scikit-learn, Matplotlib, SQL</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Model</a:t>
            </a:r>
          </a:p>
          <a:p>
            <a:pPr marL="0" indent="0">
              <a:buNone/>
            </a:pPr>
            <a:r>
              <a:rPr lang="en-IN" sz="2000" dirty="0">
                <a:latin typeface="Times New Roman" panose="02020603050405020304" pitchFamily="18" charset="0"/>
                <a:cs typeface="Times New Roman" panose="02020603050405020304" pitchFamily="18" charset="0"/>
              </a:rPr>
              <a:t>ResNet-50 </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Datasets (From Kaggle)</a:t>
            </a:r>
          </a:p>
          <a:p>
            <a:pPr marL="0" indent="0">
              <a:buNone/>
            </a:pPr>
            <a:r>
              <a:rPr lang="en-IN" sz="2000" dirty="0" err="1">
                <a:latin typeface="Times New Roman" panose="02020603050405020304" pitchFamily="18" charset="0"/>
                <a:cs typeface="Times New Roman" panose="02020603050405020304" pitchFamily="18" charset="0"/>
              </a:rPr>
              <a:t>CelebA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UTKFace</a:t>
            </a:r>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2621080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18F2-8EA8-FB40-D2ED-9155CB4BB6D5}"/>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24F7C2D5-F1D1-06D1-FCEA-BF2A61BBD7B6}"/>
              </a:ext>
            </a:extLst>
          </p:cNvPr>
          <p:cNvSpPr>
            <a:spLocks noGrp="1"/>
          </p:cNvSpPr>
          <p:nvPr>
            <p:ph type="subTitle"/>
          </p:nvPr>
        </p:nvSpPr>
        <p:spPr/>
        <p:txBody>
          <a:bodyPr/>
          <a:lstStyle/>
          <a:p>
            <a:pPr marL="0" indent="0">
              <a:buNone/>
            </a:pPr>
            <a:r>
              <a:rPr lang="en-US" sz="2000" dirty="0">
                <a:latin typeface="Times New Roman" panose="02020603050405020304" pitchFamily="18" charset="0"/>
                <a:cs typeface="Times New Roman" panose="02020603050405020304" pitchFamily="18" charset="0"/>
              </a:rPr>
              <a:t>Triple-E provides a practical solution for building ethical AI systems.   </a:t>
            </a:r>
          </a:p>
          <a:p>
            <a:pPr marL="0" indent="0">
              <a:buNone/>
            </a:pPr>
            <a:r>
              <a:rPr lang="en-US" sz="2000" dirty="0">
                <a:latin typeface="Times New Roman" panose="02020603050405020304" pitchFamily="18" charset="0"/>
                <a:cs typeface="Times New Roman" panose="02020603050405020304" pitchFamily="18" charset="0"/>
              </a:rPr>
              <a:t>It combines fairness, efficiency, and explainability in one </a:t>
            </a:r>
            <a:r>
              <a:rPr lang="en-US" sz="2000" dirty="0" err="1">
                <a:latin typeface="Times New Roman" panose="02020603050405020304" pitchFamily="18" charset="0"/>
                <a:cs typeface="Times New Roman" panose="02020603050405020304" pitchFamily="18" charset="0"/>
              </a:rPr>
              <a:t>framework.It</a:t>
            </a:r>
            <a:r>
              <a:rPr lang="en-US" sz="2000" dirty="0">
                <a:latin typeface="Times New Roman" panose="02020603050405020304" pitchFamily="18" charset="0"/>
                <a:cs typeface="Times New Roman" panose="02020603050405020304" pitchFamily="18" charset="0"/>
              </a:rPr>
              <a:t> removes bias without sensitive labels, reduces cost, and improves transparency.</a:t>
            </a:r>
          </a:p>
          <a:p>
            <a:pPr marL="0" indent="0">
              <a:buNone/>
            </a:pPr>
            <a:r>
              <a:rPr lang="en-US" sz="2000" dirty="0">
                <a:latin typeface="Times New Roman" panose="02020603050405020304" pitchFamily="18" charset="0"/>
                <a:cs typeface="Times New Roman" panose="02020603050405020304" pitchFamily="18" charset="0"/>
              </a:rPr>
              <a:t>This makes Triple-E suitable for future trustworthy AI applications.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3542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34720</TotalTime>
  <Words>455</Words>
  <Application>Microsoft Office PowerPoint</Application>
  <PresentationFormat>On-screen Show (4:3)</PresentationFormat>
  <Paragraphs>87</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Problem Statement</vt:lpstr>
      <vt:lpstr>Objectives</vt:lpstr>
      <vt:lpstr>Proposed Framework Triple-E</vt:lpstr>
      <vt:lpstr>Methodology</vt:lpstr>
      <vt:lpstr>Tools Used</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Aahan Arora</cp:lastModifiedBy>
  <cp:revision>2298</cp:revision>
  <dcterms:created xsi:type="dcterms:W3CDTF">2010-04-09T07:36:15Z</dcterms:created>
  <dcterms:modified xsi:type="dcterms:W3CDTF">2026-04-28T16:06:47Z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